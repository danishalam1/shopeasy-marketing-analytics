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2" r:id="rId5"/>
    <p:sldId id="266" r:id="rId6"/>
    <p:sldId id="258" r:id="rId7"/>
    <p:sldId id="260" r:id="rId8"/>
  </p:sldIdLst>
  <p:sldSz cx="12192000" cy="6858000"/>
  <p:notesSz cx="6858000" cy="9144000"/>
  <p:defaultText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400" autoAdjust="0"/>
    <p:restoredTop sz="96236" autoAdjust="0"/>
  </p:normalViewPr>
  <p:slideViewPr>
    <p:cSldViewPr snapToGrid="0">
      <p:cViewPr varScale="1">
        <p:scale>
          <a:sx n="119" d="100"/>
          <a:sy n="119" d="100"/>
        </p:scale>
        <p:origin x="12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b-NO"/>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b-NO"/>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nb-NO"/>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7" name="Date Placeholder 6"/>
          <p:cNvSpPr>
            <a:spLocks noGrp="1"/>
          </p:cNvSpPr>
          <p:nvPr>
            <p:ph type="dt" sz="half" idx="10"/>
          </p:nvPr>
        </p:nvSpPr>
        <p:spPr/>
        <p:txBody>
          <a:bodyPr/>
          <a:lstStyle/>
          <a:p>
            <a:fld id="{1E4130FF-60BC-4C0C-AEE3-7285F2A694C4}" type="datetimeFigureOut">
              <a:rPr lang="nb-NO" smtClean="0"/>
            </a:fld>
            <a:endParaRPr lang="nb-NO"/>
          </a:p>
        </p:txBody>
      </p:sp>
      <p:sp>
        <p:nvSpPr>
          <p:cNvPr id="8" name="Footer Placeholder 7"/>
          <p:cNvSpPr>
            <a:spLocks noGrp="1"/>
          </p:cNvSpPr>
          <p:nvPr>
            <p:ph type="ftr" sz="quarter" idx="11"/>
          </p:nvPr>
        </p:nvSpPr>
        <p:spPr/>
        <p:txBody>
          <a:bodyPr/>
          <a:lstStyle/>
          <a:p>
            <a:endParaRPr lang="nb-NO"/>
          </a:p>
        </p:txBody>
      </p:sp>
      <p:sp>
        <p:nvSpPr>
          <p:cNvPr id="9" name="Slide Number Placeholder 8"/>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Date Placeholder 2"/>
          <p:cNvSpPr>
            <a:spLocks noGrp="1"/>
          </p:cNvSpPr>
          <p:nvPr>
            <p:ph type="dt" sz="half" idx="10"/>
          </p:nvPr>
        </p:nvSpPr>
        <p:spPr/>
        <p:txBody>
          <a:bodyPr/>
          <a:lstStyle/>
          <a:p>
            <a:fld id="{1E4130FF-60BC-4C0C-AEE3-7285F2A694C4}" type="datetimeFigureOut">
              <a:rPr lang="nb-NO" smtClean="0"/>
            </a:fld>
            <a:endParaRPr lang="nb-NO"/>
          </a:p>
        </p:txBody>
      </p:sp>
      <p:sp>
        <p:nvSpPr>
          <p:cNvPr id="4" name="Footer Placeholder 3"/>
          <p:cNvSpPr>
            <a:spLocks noGrp="1"/>
          </p:cNvSpPr>
          <p:nvPr>
            <p:ph type="ftr" sz="quarter" idx="11"/>
          </p:nvPr>
        </p:nvSpPr>
        <p:spPr/>
        <p:txBody>
          <a:bodyPr/>
          <a:lstStyle/>
          <a:p>
            <a:endParaRPr lang="nb-NO"/>
          </a:p>
        </p:txBody>
      </p:sp>
      <p:sp>
        <p:nvSpPr>
          <p:cNvPr id="5" name="Slide Number Placeholder 4"/>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4130FF-60BC-4C0C-AEE3-7285F2A694C4}" type="datetimeFigureOut">
              <a:rPr lang="nb-NO" smtClean="0"/>
            </a:fld>
            <a:endParaRPr lang="nb-NO"/>
          </a:p>
        </p:txBody>
      </p:sp>
      <p:sp>
        <p:nvSpPr>
          <p:cNvPr id="3" name="Footer Placeholder 2"/>
          <p:cNvSpPr>
            <a:spLocks noGrp="1"/>
          </p:cNvSpPr>
          <p:nvPr>
            <p:ph type="ftr" sz="quarter" idx="11"/>
          </p:nvPr>
        </p:nvSpPr>
        <p:spPr/>
        <p:txBody>
          <a:bodyPr/>
          <a:lstStyle/>
          <a:p>
            <a:endParaRPr lang="nb-NO"/>
          </a:p>
        </p:txBody>
      </p:sp>
      <p:sp>
        <p:nvSpPr>
          <p:cNvPr id="4" name="Slide Number Placeholder 3"/>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b-NO"/>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b-NO"/>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4130FF-60BC-4C0C-AEE3-7285F2A694C4}" type="datetimeFigureOut">
              <a:rPr lang="nb-NO" smtClean="0"/>
            </a:fld>
            <a:endParaRPr lang="nb-NO"/>
          </a:p>
        </p:txBody>
      </p:sp>
      <p:sp>
        <p:nvSpPr>
          <p:cNvPr id="6" name="Footer Placeholder 5"/>
          <p:cNvSpPr>
            <a:spLocks noGrp="1"/>
          </p:cNvSpPr>
          <p:nvPr>
            <p:ph type="ftr" sz="quarter" idx="11"/>
          </p:nvPr>
        </p:nvSpPr>
        <p:spPr/>
        <p:txBody>
          <a:bodyPr/>
          <a:lstStyle/>
          <a:p>
            <a:endParaRPr lang="nb-NO"/>
          </a:p>
        </p:txBody>
      </p:sp>
      <p:sp>
        <p:nvSpPr>
          <p:cNvPr id="7" name="Slide Number Placeholder 6"/>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nb-NO"/>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10"/>
          </p:nvPr>
        </p:nvSpPr>
        <p:spPr/>
        <p:txBody>
          <a:bodyPr/>
          <a:lstStyle/>
          <a:p>
            <a:fld id="{1E4130FF-60BC-4C0C-AEE3-7285F2A694C4}" type="datetimeFigureOut">
              <a:rPr lang="nb-NO" smtClean="0"/>
            </a:fld>
            <a:endParaRPr lang="nb-NO"/>
          </a:p>
        </p:txBody>
      </p:sp>
      <p:sp>
        <p:nvSpPr>
          <p:cNvPr id="5" name="Footer Placeholder 4"/>
          <p:cNvSpPr>
            <a:spLocks noGrp="1"/>
          </p:cNvSpPr>
          <p:nvPr>
            <p:ph type="ftr" sz="quarter" idx="11"/>
          </p:nvPr>
        </p:nvSpPr>
        <p:spPr/>
        <p:txBody>
          <a:bodyPr/>
          <a:lstStyle/>
          <a:p>
            <a:endParaRPr lang="nb-NO"/>
          </a:p>
        </p:txBody>
      </p:sp>
      <p:sp>
        <p:nvSpPr>
          <p:cNvPr id="6" name="Slide Number Placeholder 5"/>
          <p:cNvSpPr>
            <a:spLocks noGrp="1"/>
          </p:cNvSpPr>
          <p:nvPr>
            <p:ph type="sldNum" sz="quarter" idx="12"/>
          </p:nvPr>
        </p:nvSpPr>
        <p:spPr/>
        <p:txBody>
          <a:bodyPr/>
          <a:lstStyle/>
          <a:p>
            <a:fld id="{0D9F6004-803D-4B18-B659-7E2122392222}" type="slidenum">
              <a:rPr lang="nb-NO" smtClean="0"/>
            </a:fld>
            <a:endParaRPr lang="nb-NO"/>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b-NO"/>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nb-NO"/>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130FF-60BC-4C0C-AEE3-7285F2A694C4}" type="datetimeFigureOut">
              <a:rPr lang="nb-NO" smtClean="0"/>
            </a:fld>
            <a:endParaRPr lang="nb-N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b-N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D9F6004-803D-4B18-B659-7E2122392222}" type="slidenum">
              <a:rPr lang="nb-NO" smtClean="0"/>
            </a:fld>
            <a:endParaRPr lang="nb-N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Marketing Analytics Business Case</a:t>
            </a:r>
            <a:endParaRPr lang="nb-NO" b="1" dirty="0"/>
          </a:p>
        </p:txBody>
      </p:sp>
      <p:sp>
        <p:nvSpPr>
          <p:cNvPr id="3" name="Subtitle 2"/>
          <p:cNvSpPr>
            <a:spLocks noGrp="1"/>
          </p:cNvSpPr>
          <p:nvPr>
            <p:ph type="subTitle" idx="1"/>
          </p:nvPr>
        </p:nvSpPr>
        <p:spPr/>
        <p:txBody>
          <a:bodyPr/>
          <a:lstStyle/>
          <a:p>
            <a:r>
              <a:rPr lang="en-US" altLang="nb-NO"/>
              <a:t>Danish Alam</a:t>
            </a:r>
            <a:endParaRPr lang="nb-NO"/>
          </a:p>
          <a:p>
            <a:endParaRPr lang="nb-NO"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Introduction to Business Problem</a:t>
            </a:r>
            <a:endParaRPr lang="nb-NO" b="1" dirty="0"/>
          </a:p>
        </p:txBody>
      </p:sp>
      <p:sp>
        <p:nvSpPr>
          <p:cNvPr id="5" name="Content Placeholder 4"/>
          <p:cNvSpPr>
            <a:spLocks noGrp="1"/>
          </p:cNvSpPr>
          <p:nvPr>
            <p:ph idx="1"/>
          </p:nvPr>
        </p:nvSpPr>
        <p:spPr>
          <a:xfrm>
            <a:off x="838200" y="1843209"/>
            <a:ext cx="10515600" cy="4351338"/>
          </a:xfrm>
        </p:spPr>
        <p:txBody>
          <a:bodyPr>
            <a:normAutofit fontScale="55000" lnSpcReduction="20000"/>
          </a:bodyPr>
          <a:lstStyle/>
          <a:p>
            <a:pPr>
              <a:lnSpc>
                <a:spcPct val="170000"/>
              </a:lnSpc>
            </a:pPr>
            <a:r>
              <a:rPr lang="en-US" dirty="0" err="1"/>
              <a:t>ShopEasy</a:t>
            </a:r>
            <a:r>
              <a:rPr lang="en-US" dirty="0"/>
              <a:t>, an online retail business, is facing reduced customer engagement and conversion rates despite launching several new online marketing campaigns. They are reaching out to you to help conduct a detailed analysis and identify areas for improvement in their marketing strategies.</a:t>
            </a:r>
            <a:endParaRPr lang="en-US" dirty="0"/>
          </a:p>
          <a:p>
            <a:pPr>
              <a:lnSpc>
                <a:spcPct val="170000"/>
              </a:lnSpc>
            </a:pPr>
            <a:endParaRPr lang="en-US" dirty="0"/>
          </a:p>
          <a:p>
            <a:pPr>
              <a:lnSpc>
                <a:spcPct val="170000"/>
              </a:lnSpc>
            </a:pPr>
            <a:r>
              <a:rPr lang="en-US" b="1" dirty="0"/>
              <a:t>Key Points:</a:t>
            </a:r>
            <a:endParaRPr lang="en-US" dirty="0"/>
          </a:p>
          <a:p>
            <a:pPr lvl="1">
              <a:lnSpc>
                <a:spcPct val="170000"/>
              </a:lnSpc>
            </a:pPr>
            <a:r>
              <a:rPr lang="en-US" b="1" dirty="0"/>
              <a:t>Reduced Customer Engagement:</a:t>
            </a:r>
            <a:r>
              <a:rPr lang="en-US" dirty="0"/>
              <a:t> The number of customer interactions and engagement with the site and marketing content has declined.</a:t>
            </a:r>
            <a:endParaRPr lang="en-US" dirty="0"/>
          </a:p>
          <a:p>
            <a:pPr lvl="1">
              <a:lnSpc>
                <a:spcPct val="170000"/>
              </a:lnSpc>
            </a:pPr>
            <a:r>
              <a:rPr lang="en-US" b="1" dirty="0"/>
              <a:t>Decreased Conversion Rates:</a:t>
            </a:r>
            <a:r>
              <a:rPr lang="en-US" dirty="0"/>
              <a:t> Fewer site visitors are converting into paying customers.</a:t>
            </a:r>
            <a:endParaRPr lang="en-US" dirty="0"/>
          </a:p>
          <a:p>
            <a:pPr lvl="1">
              <a:lnSpc>
                <a:spcPct val="170000"/>
              </a:lnSpc>
            </a:pPr>
            <a:r>
              <a:rPr lang="en-US" b="1" dirty="0"/>
              <a:t>High Marketing Expenses:</a:t>
            </a:r>
            <a:r>
              <a:rPr lang="en-US" dirty="0"/>
              <a:t> Significant investments in marketing campaigns are not yielding expected returns.</a:t>
            </a:r>
            <a:endParaRPr lang="en-US" dirty="0"/>
          </a:p>
          <a:p>
            <a:pPr lvl="1">
              <a:lnSpc>
                <a:spcPct val="170000"/>
              </a:lnSpc>
            </a:pPr>
            <a:r>
              <a:rPr lang="en-US" b="1" dirty="0"/>
              <a:t>Need for Customer Feedback Analysis:</a:t>
            </a:r>
            <a:r>
              <a:rPr lang="en-US" dirty="0"/>
              <a:t> Understanding customer opinions about products and services is crucial for improving engagement and conversions.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p:cNvSpPr>
            <a:spLocks noGrp="1"/>
          </p:cNvSpPr>
          <p:nvPr>
            <p:ph idx="1"/>
          </p:nvPr>
        </p:nvSpPr>
        <p:spPr/>
        <p:txBody>
          <a:bodyPr>
            <a:normAutofit fontScale="47500" lnSpcReduction="20000"/>
          </a:bodyPr>
          <a:lstStyle/>
          <a:p>
            <a:pPr marL="0" indent="0">
              <a:lnSpc>
                <a:spcPct val="170000"/>
              </a:lnSpc>
              <a:buNone/>
            </a:pPr>
            <a:r>
              <a:rPr lang="en-US" dirty="0"/>
              <a:t>Hi Data Analyst,</a:t>
            </a:r>
            <a:endParaRPr lang="en-US" dirty="0"/>
          </a:p>
          <a:p>
            <a:pPr marL="0" indent="0">
              <a:lnSpc>
                <a:spcPct val="170000"/>
              </a:lnSpc>
              <a:buNone/>
            </a:pPr>
            <a:r>
              <a:rPr lang="en-US" dirty="0"/>
              <a:t>I hope this email finds you well. I’m the Marketing Manager at </a:t>
            </a:r>
            <a:r>
              <a:rPr lang="en-US" dirty="0" err="1"/>
              <a:t>ShopEasy</a:t>
            </a:r>
            <a:r>
              <a:rPr lang="en-US" dirty="0"/>
              <a:t>. We’ve been facing some challenges with our marketing campaigns lately, and I’m reaching out to request your expertise in data analysis to help us identify areas for improvement.</a:t>
            </a:r>
            <a:endParaRPr lang="en-US" dirty="0"/>
          </a:p>
          <a:p>
            <a:pPr marL="0" indent="0">
              <a:lnSpc>
                <a:spcPct val="170000"/>
              </a:lnSpc>
              <a:buNone/>
            </a:pPr>
            <a:r>
              <a:rPr lang="en-US" dirty="0"/>
              <a:t>Despite our increased investment in marketing, we’ve observed a decline in customer engagement and conversion rates. Our marketing expenses have gone up, but the return on investment isn’t meeting our expectations. We need a comprehensive analysis to understand the effectiveness of our current strategies and to find opportunities to optimize our efforts.</a:t>
            </a:r>
            <a:endParaRPr lang="en-US" dirty="0"/>
          </a:p>
          <a:p>
            <a:pPr marL="0" indent="0">
              <a:lnSpc>
                <a:spcPct val="170000"/>
              </a:lnSpc>
              <a:buNone/>
            </a:pPr>
            <a:r>
              <a:rPr lang="en-US" dirty="0"/>
              <a:t>We have data from various sources, including customer reviews, social media comments, and campaign performance metrics. Your insights will be invaluable in helping us turn this situation around.</a:t>
            </a:r>
            <a:endParaRPr lang="en-US" dirty="0"/>
          </a:p>
          <a:p>
            <a:pPr marL="0" indent="0">
              <a:lnSpc>
                <a:spcPct val="170000"/>
              </a:lnSpc>
              <a:buNone/>
            </a:pPr>
            <a:r>
              <a:rPr lang="en-US" dirty="0"/>
              <a:t>Looking forward to your response.</a:t>
            </a:r>
            <a:endParaRPr lang="en-US" dirty="0"/>
          </a:p>
          <a:p>
            <a:pPr marL="0" indent="0">
              <a:lnSpc>
                <a:spcPct val="170000"/>
              </a:lnSpc>
              <a:buNone/>
            </a:pPr>
            <a:r>
              <a:rPr lang="en-US" dirty="0"/>
              <a:t>Best regards,</a:t>
            </a:r>
            <a:br>
              <a:rPr lang="en-US" dirty="0"/>
            </a:br>
            <a:r>
              <a:rPr lang="en-US" dirty="0"/>
              <a:t>Jane Doe</a:t>
            </a:r>
            <a:br>
              <a:rPr lang="en-US" dirty="0"/>
            </a:br>
            <a:r>
              <a:rPr lang="en-US" dirty="0"/>
              <a:t>Marketing Manager</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Subject: Request for Data Analysis to Improve Marketing Strategy</a:t>
            </a:r>
            <a:endParaRPr lang="nb-NO" b="1" dirty="0"/>
          </a:p>
        </p:txBody>
      </p:sp>
      <p:sp>
        <p:nvSpPr>
          <p:cNvPr id="3" name="Content Placeholder 2"/>
          <p:cNvSpPr>
            <a:spLocks noGrp="1"/>
          </p:cNvSpPr>
          <p:nvPr>
            <p:ph idx="1"/>
          </p:nvPr>
        </p:nvSpPr>
        <p:spPr/>
        <p:txBody>
          <a:bodyPr>
            <a:normAutofit fontScale="47500" lnSpcReduction="20000"/>
          </a:bodyPr>
          <a:lstStyle/>
          <a:p>
            <a:pPr marL="0" indent="0">
              <a:lnSpc>
                <a:spcPct val="170000"/>
              </a:lnSpc>
              <a:buNone/>
            </a:pPr>
            <a:r>
              <a:rPr lang="en-US" dirty="0"/>
              <a:t>Hi Data Analyst,</a:t>
            </a:r>
            <a:endParaRPr lang="en-US" dirty="0"/>
          </a:p>
          <a:p>
            <a:pPr marL="0" indent="0">
              <a:lnSpc>
                <a:spcPct val="170000"/>
              </a:lnSpc>
              <a:buNone/>
            </a:pPr>
            <a:r>
              <a:rPr lang="en-US" dirty="0"/>
              <a:t>I’m the Customer Experience Manager at </a:t>
            </a:r>
            <a:r>
              <a:rPr lang="en-US" dirty="0" err="1"/>
              <a:t>ShopEasy</a:t>
            </a:r>
            <a:r>
              <a:rPr lang="en-US" dirty="0"/>
              <a:t>, and I’m writing to seek your help with analyzing our customer feedback. Over the past few months, we’ve noticed a drop in customer engagement and satisfaction, which is impacting our overall conversion rates.</a:t>
            </a:r>
            <a:endParaRPr lang="en-US" dirty="0"/>
          </a:p>
          <a:p>
            <a:pPr marL="0" indent="0">
              <a:lnSpc>
                <a:spcPct val="170000"/>
              </a:lnSpc>
              <a:buNone/>
            </a:pPr>
            <a:r>
              <a:rPr lang="en-US" dirty="0"/>
              <a:t>We’ve gathered a significant amount of customer reviews and social media comments that highlight various issues and sentiments. We believe that by thoroughly analyzing this feedback, we can gain a better understanding of our customers' needs and pain points.</a:t>
            </a:r>
            <a:endParaRPr lang="en-US" dirty="0"/>
          </a:p>
          <a:p>
            <a:pPr marL="0" indent="0">
              <a:lnSpc>
                <a:spcPct val="170000"/>
              </a:lnSpc>
              <a:buNone/>
            </a:pPr>
            <a:r>
              <a:rPr lang="en-US" dirty="0"/>
              <a:t>Your expertise in data analysis will be crucial in helping us decode this feedback and provide actionable insights. We hope this will guide us in improving our customer experience and ultimately boost our engagement and conversion rates.</a:t>
            </a:r>
            <a:endParaRPr lang="en-US" dirty="0"/>
          </a:p>
          <a:p>
            <a:pPr marL="0" indent="0">
              <a:lnSpc>
                <a:spcPct val="170000"/>
              </a:lnSpc>
              <a:buNone/>
            </a:pPr>
            <a:r>
              <a:rPr lang="en-US" dirty="0"/>
              <a:t>Thank you for your assistance.</a:t>
            </a:r>
            <a:endParaRPr lang="en-US" dirty="0"/>
          </a:p>
          <a:p>
            <a:pPr marL="0" indent="0">
              <a:lnSpc>
                <a:spcPct val="170000"/>
              </a:lnSpc>
              <a:buNone/>
            </a:pPr>
            <a:r>
              <a:rPr lang="en-US" dirty="0"/>
              <a:t>Best regards,</a:t>
            </a:r>
            <a:br>
              <a:rPr lang="en-US" dirty="0"/>
            </a:br>
            <a:r>
              <a:rPr lang="en-US" dirty="0"/>
              <a:t>John Smith</a:t>
            </a:r>
            <a:br>
              <a:rPr lang="en-US" dirty="0"/>
            </a:br>
            <a:r>
              <a:rPr lang="en-US" dirty="0"/>
              <a:t>Customer Experience Manager</a:t>
            </a:r>
            <a:br>
              <a:rPr lang="en-US" dirty="0"/>
            </a:br>
            <a:r>
              <a:rPr lang="en-US" dirty="0" err="1"/>
              <a:t>ShopEasy</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Key Performance Indicators (KPIs)</a:t>
            </a:r>
            <a:endParaRPr lang="nb-NO" b="1" dirty="0"/>
          </a:p>
        </p:txBody>
      </p:sp>
      <p:sp>
        <p:nvSpPr>
          <p:cNvPr id="3" name="Content Placeholder 2"/>
          <p:cNvSpPr>
            <a:spLocks noGrp="1"/>
          </p:cNvSpPr>
          <p:nvPr>
            <p:ph idx="1"/>
          </p:nvPr>
        </p:nvSpPr>
        <p:spPr/>
        <p:txBody>
          <a:bodyPr>
            <a:normAutofit fontScale="92500" lnSpcReduction="10000"/>
          </a:bodyPr>
          <a:lstStyle/>
          <a:p>
            <a:pPr>
              <a:lnSpc>
                <a:spcPct val="150000"/>
              </a:lnSpc>
            </a:pPr>
            <a:r>
              <a:rPr lang="en-US" b="1" dirty="0"/>
              <a:t>Conversion Rate: </a:t>
            </a:r>
            <a:r>
              <a:rPr lang="en-US" dirty="0"/>
              <a:t>Percentage of website visitors who make a purchase.</a:t>
            </a:r>
            <a:endParaRPr lang="en-US" dirty="0"/>
          </a:p>
          <a:p>
            <a:pPr>
              <a:lnSpc>
                <a:spcPct val="150000"/>
              </a:lnSpc>
            </a:pPr>
            <a:r>
              <a:rPr lang="en-US" b="1" dirty="0"/>
              <a:t>Customer Engagement Rate: </a:t>
            </a:r>
            <a:r>
              <a:rPr lang="en-US" dirty="0"/>
              <a:t>Level of interaction with marketing content (clicks, likes, comments).</a:t>
            </a:r>
            <a:endParaRPr lang="en-US" dirty="0"/>
          </a:p>
          <a:p>
            <a:pPr>
              <a:lnSpc>
                <a:spcPct val="150000"/>
              </a:lnSpc>
            </a:pPr>
            <a:r>
              <a:rPr lang="en-US" b="1" dirty="0"/>
              <a:t>Average Order Value (AOV): </a:t>
            </a:r>
            <a:r>
              <a:rPr lang="en-US" dirty="0"/>
              <a:t>Average amount spent by a customer per transaction.</a:t>
            </a:r>
            <a:endParaRPr lang="en-US" dirty="0"/>
          </a:p>
          <a:p>
            <a:pPr>
              <a:lnSpc>
                <a:spcPct val="150000"/>
              </a:lnSpc>
            </a:pPr>
            <a:r>
              <a:rPr lang="en-US" b="1" dirty="0"/>
              <a:t>Customer Feedback Score: </a:t>
            </a:r>
            <a:r>
              <a:rPr lang="en-US" dirty="0"/>
              <a:t>Average rating from customer reviews.</a:t>
            </a:r>
            <a:endParaRPr lang="nb-NO"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Goals</a:t>
            </a:r>
            <a:endParaRPr lang="nb-NO" b="1" dirty="0"/>
          </a:p>
        </p:txBody>
      </p:sp>
      <p:sp>
        <p:nvSpPr>
          <p:cNvPr id="3" name="Content Placeholder 2"/>
          <p:cNvSpPr>
            <a:spLocks noGrp="1"/>
          </p:cNvSpPr>
          <p:nvPr>
            <p:ph idx="1"/>
          </p:nvPr>
        </p:nvSpPr>
        <p:spPr/>
        <p:txBody>
          <a:bodyPr>
            <a:normAutofit fontScale="62500" lnSpcReduction="20000"/>
          </a:bodyPr>
          <a:lstStyle/>
          <a:p>
            <a:pPr>
              <a:lnSpc>
                <a:spcPct val="170000"/>
              </a:lnSpc>
            </a:pPr>
            <a:r>
              <a:rPr lang="en-US" b="1" dirty="0"/>
              <a:t>Increase Conversion Rates:</a:t>
            </a:r>
            <a:endParaRPr lang="en-US" b="1" dirty="0"/>
          </a:p>
          <a:p>
            <a:pPr lvl="1">
              <a:lnSpc>
                <a:spcPct val="170000"/>
              </a:lnSpc>
            </a:pPr>
            <a:r>
              <a:rPr lang="en-US" b="1" dirty="0"/>
              <a:t>Goal: </a:t>
            </a:r>
            <a:r>
              <a:rPr lang="en-US" dirty="0"/>
              <a:t>Identify factors impacting the conversion rate and provide recommendations to improve it.</a:t>
            </a:r>
            <a:endParaRPr lang="en-US" dirty="0"/>
          </a:p>
          <a:p>
            <a:pPr lvl="1">
              <a:lnSpc>
                <a:spcPct val="170000"/>
              </a:lnSpc>
            </a:pPr>
            <a:r>
              <a:rPr lang="en-US" b="1" dirty="0"/>
              <a:t>Insight: </a:t>
            </a:r>
            <a:r>
              <a:rPr lang="en-US" dirty="0"/>
              <a:t>Highlight key stages where visitors drop off and suggest improvements to optimize the conversion funnel.</a:t>
            </a:r>
            <a:endParaRPr lang="en-US" dirty="0"/>
          </a:p>
          <a:p>
            <a:pPr>
              <a:lnSpc>
                <a:spcPct val="170000"/>
              </a:lnSpc>
            </a:pPr>
            <a:r>
              <a:rPr lang="en-US" b="1" dirty="0"/>
              <a:t>Enhance Customer Engagement:</a:t>
            </a:r>
            <a:endParaRPr lang="en-US" dirty="0"/>
          </a:p>
          <a:p>
            <a:pPr lvl="1">
              <a:lnSpc>
                <a:spcPct val="170000"/>
              </a:lnSpc>
            </a:pPr>
            <a:r>
              <a:rPr lang="en-US" b="1" dirty="0"/>
              <a:t>Goal:</a:t>
            </a:r>
            <a:r>
              <a:rPr lang="en-US" dirty="0"/>
              <a:t> Determine which types of content drive the highest engagement. </a:t>
            </a:r>
            <a:endParaRPr lang="en-US" dirty="0"/>
          </a:p>
          <a:p>
            <a:pPr lvl="1">
              <a:lnSpc>
                <a:spcPct val="170000"/>
              </a:lnSpc>
            </a:pPr>
            <a:r>
              <a:rPr lang="en-US" b="1" dirty="0"/>
              <a:t>Insight:</a:t>
            </a:r>
            <a:r>
              <a:rPr lang="en-US" dirty="0"/>
              <a:t> Analyze interaction levels with different types of marketing content to inform better content strategies.</a:t>
            </a:r>
            <a:endParaRPr lang="en-US" dirty="0"/>
          </a:p>
          <a:p>
            <a:pPr>
              <a:lnSpc>
                <a:spcPct val="170000"/>
              </a:lnSpc>
            </a:pPr>
            <a:r>
              <a:rPr lang="en-US" b="1" dirty="0"/>
              <a:t>Improve Customer Feedback Scores:</a:t>
            </a:r>
            <a:endParaRPr lang="en-US" dirty="0"/>
          </a:p>
          <a:p>
            <a:pPr lvl="1">
              <a:lnSpc>
                <a:spcPct val="170000"/>
              </a:lnSpc>
            </a:pPr>
            <a:r>
              <a:rPr lang="en-US" b="1" dirty="0"/>
              <a:t>Goal:</a:t>
            </a:r>
            <a:r>
              <a:rPr lang="en-US" dirty="0"/>
              <a:t> Understand common themes in customer reviews and provide actionable insights.</a:t>
            </a:r>
            <a:endParaRPr lang="en-US" dirty="0"/>
          </a:p>
          <a:p>
            <a:pPr lvl="1">
              <a:lnSpc>
                <a:spcPct val="170000"/>
              </a:lnSpc>
            </a:pPr>
            <a:r>
              <a:rPr lang="en-US" b="1" dirty="0"/>
              <a:t>Insight:</a:t>
            </a:r>
            <a:r>
              <a:rPr lang="en-US" dirty="0"/>
              <a:t> Identify recurring positive and negative feedback to guide product and service improvements.</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3720</Words>
  <Application>WPS Presentation</Application>
  <PresentationFormat>Widescreen</PresentationFormat>
  <Paragraphs>52</Paragraphs>
  <Slides>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6</vt:i4>
      </vt:variant>
    </vt:vector>
  </HeadingPairs>
  <TitlesOfParts>
    <vt:vector size="17" baseType="lpstr">
      <vt:lpstr>Arial</vt:lpstr>
      <vt:lpstr>SimSun</vt:lpstr>
      <vt:lpstr>Wingdings</vt:lpstr>
      <vt:lpstr>Aptos Display</vt:lpstr>
      <vt:lpstr>Segoe UI Variable Display</vt:lpstr>
      <vt:lpstr>Aptos</vt:lpstr>
      <vt:lpstr>Segoe UI</vt:lpstr>
      <vt:lpstr>Microsoft YaHei</vt:lpstr>
      <vt:lpstr>Arial Unicode MS</vt:lpstr>
      <vt:lpstr>Calibri</vt:lpstr>
      <vt:lpstr>Office Theme</vt:lpstr>
      <vt:lpstr>Marketing Analytics Business Case</vt:lpstr>
      <vt:lpstr>Introduction to Business Problem</vt:lpstr>
      <vt:lpstr>Subject: Request for Data Analysis to Improve Marketing Strategy</vt:lpstr>
      <vt:lpstr>Subject: Request for Data Analysis to Improve Marketing Strategy</vt:lpstr>
      <vt:lpstr>Key Performance Indicators (KPIs)</vt:lpstr>
      <vt:lpstr>Goals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ASUS</cp:lastModifiedBy>
  <cp:revision>2</cp:revision>
  <dcterms:created xsi:type="dcterms:W3CDTF">2024-07-20T13:50:00Z</dcterms:created>
  <dcterms:modified xsi:type="dcterms:W3CDTF">2026-08-09T16:14:58Z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59C295F5619F460CBAD0B3C42FE9F953_12</vt:lpwstr>
  </property>
  <property fmtid="{D5CDD505-2E9C-101B-9397-08002B2CF9AE}" pid="3" name="KSOProductBuildVer">
    <vt:lpwstr>1033-12.1.0.28032</vt:lpwstr>
  </property>
</Properties>
</file>